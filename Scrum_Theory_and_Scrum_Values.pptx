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54864" cy="2286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Scrum Theory &amp; Scrum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6E8F7"/>
                </a:solidFill>
                <a:latin typeface="Calibri"/>
              </a:rPr>
              <a:t>A Simple Explanation for Beginners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3498DB"/>
                </a:solidFill>
                <a:latin typeface="Calibri"/>
              </a:rPr>
              <a:t>  ⚙    ↻    🤝    ⭐    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Calibri"/>
              </a:rPr>
              <a:t>Suitable for a 5-minute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498DB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What is Scrum?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2200">
                <a:solidFill>
                  <a:srgbClr val="3498DB"/>
                </a:solidFill>
              </a:rPr>
              <a:t>  ⚙  </a:t>
            </a:r>
            <a:r>
              <a:rPr sz="2000">
                <a:solidFill>
                  <a:srgbClr val="2C3E50"/>
                </a:solidFill>
                <a:latin typeface="Calibri"/>
              </a:rPr>
              <a:t>Scrum is a framework to manage work efficiently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2200">
                <a:solidFill>
                  <a:srgbClr val="3498DB"/>
                </a:solidFill>
              </a:rPr>
              <a:t>  ↻  </a:t>
            </a:r>
            <a:r>
              <a:rPr sz="2000">
                <a:solidFill>
                  <a:srgbClr val="2C3E50"/>
                </a:solidFill>
                <a:latin typeface="Calibri"/>
              </a:rPr>
              <a:t>It is part of the Agile methodology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2200">
                <a:solidFill>
                  <a:srgbClr val="3498DB"/>
                </a:solidFill>
              </a:rPr>
              <a:t>  ⏱  </a:t>
            </a:r>
            <a:r>
              <a:rPr sz="2000">
                <a:solidFill>
                  <a:srgbClr val="2C3E50"/>
                </a:solidFill>
                <a:latin typeface="Calibri"/>
              </a:rPr>
              <a:t>Work is done in small time-boxes called Sprints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498DB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Scrum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2200">
                <a:solidFill>
                  <a:srgbClr val="3498DB"/>
                </a:solidFill>
              </a:rPr>
              <a:t>  💡  </a:t>
            </a:r>
            <a:r>
              <a:rPr sz="2000">
                <a:solidFill>
                  <a:srgbClr val="2C3E50"/>
                </a:solidFill>
                <a:latin typeface="Calibri"/>
              </a:rPr>
              <a:t>Based on learning from real experience (Empiricism)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2200">
                <a:solidFill>
                  <a:srgbClr val="3498DB"/>
                </a:solidFill>
              </a:rPr>
              <a:t>  📈  </a:t>
            </a:r>
            <a:r>
              <a:rPr sz="2000">
                <a:solidFill>
                  <a:srgbClr val="2C3E50"/>
                </a:solidFill>
                <a:latin typeface="Calibri"/>
              </a:rPr>
              <a:t>Focus on continuous improvement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2200">
                <a:solidFill>
                  <a:srgbClr val="3498DB"/>
                </a:solidFill>
              </a:rPr>
              <a:t>  📋  </a:t>
            </a:r>
            <a:r>
              <a:rPr sz="2000">
                <a:solidFill>
                  <a:srgbClr val="2C3E50"/>
                </a:solidFill>
                <a:latin typeface="Calibri"/>
              </a:rPr>
              <a:t>Not about fixed planning — adapt as you go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498DB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3 Pillars of Scrum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926080" cy="3200400"/>
          </a:xfrm>
          <a:prstGeom prst="roundRect">
            <a:avLst/>
          </a:prstGeom>
          <a:solidFill>
            <a:srgbClr val="D6E8F7"/>
          </a:solidFill>
          <a:ln w="25400">
            <a:solidFill>
              <a:srgbClr val="2E6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2E6BAD"/>
                </a:solidFill>
                <a:latin typeface="Calibri"/>
              </a:rPr>
              <a:t>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3C6E"/>
                </a:solidFill>
                <a:latin typeface="Calibri"/>
              </a:rPr>
              <a:t>Transparency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Work is visible to everyone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2926080" cy="3200400"/>
          </a:xfrm>
          <a:prstGeom prst="roundRect">
            <a:avLst/>
          </a:prstGeom>
          <a:solidFill>
            <a:srgbClr val="D6E8F7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4A90D9"/>
                </a:solidFill>
                <a:latin typeface="Calibri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017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3C6E"/>
                </a:solidFill>
                <a:latin typeface="Calibri"/>
              </a:rPr>
              <a:t>Inspection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Regularly check progress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2926080" cy="3200400"/>
          </a:xfrm>
          <a:prstGeom prst="roundRect">
            <a:avLst/>
          </a:prstGeom>
          <a:solidFill>
            <a:srgbClr val="D6E8F7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3498DB"/>
                </a:solidFill>
                <a:latin typeface="Calibri"/>
              </a:rP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017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3C6E"/>
                </a:solidFill>
                <a:latin typeface="Calibri"/>
              </a:rPr>
              <a:t>Adaptation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Improve based on feedback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498DB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Scrum Values —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2200">
                <a:solidFill>
                  <a:srgbClr val="3498DB"/>
                </a:solidFill>
              </a:rPr>
              <a:t>  📖  </a:t>
            </a:r>
            <a:r>
              <a:rPr sz="2000">
                <a:solidFill>
                  <a:srgbClr val="2C3E50"/>
                </a:solidFill>
                <a:latin typeface="Calibri"/>
              </a:rPr>
              <a:t>Core rules that guide team behavior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2200">
                <a:solidFill>
                  <a:srgbClr val="3498DB"/>
                </a:solidFill>
              </a:rPr>
              <a:t>  🤝  </a:t>
            </a:r>
            <a:r>
              <a:rPr sz="2000">
                <a:solidFill>
                  <a:srgbClr val="2C3E50"/>
                </a:solidFill>
                <a:latin typeface="Calibri"/>
              </a:rPr>
              <a:t>Helps build trust and effective teamwork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6BAD"/>
                </a:solidFill>
                <a:latin typeface="Calibri"/>
              </a:rPr>
              <a:t>💚  Values are the foundation of every successful Scrum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498DB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5 Scrum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0515600" cy="82296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3498DB"/>
                </a:solidFill>
                <a:latin typeface="Calibri"/>
              </a:rP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373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C6E"/>
                </a:solidFill>
                <a:latin typeface="Calibri"/>
              </a:rPr>
              <a:t>Commitment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7373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Calibri"/>
              </a:rPr>
              <a:t>— Finish what you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3498DB"/>
                </a:solidFill>
                <a:latin typeface="Calibri"/>
              </a:rPr>
              <a:t>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51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C6E"/>
                </a:solidFill>
                <a:latin typeface="Calibri"/>
              </a:rPr>
              <a:t>Courage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51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Calibri"/>
              </a:rPr>
              <a:t>— Speak up and face challenges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10515600" cy="82296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3498DB"/>
                </a:solidFill>
                <a:latin typeface="Calibri"/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566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C6E"/>
                </a:solidFill>
                <a:latin typeface="Calibri"/>
              </a:rPr>
              <a:t>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5661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Calibri"/>
              </a:rPr>
              <a:t>— Stay on the sprint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3498DB"/>
                </a:solidFill>
                <a:latin typeface="Calibri"/>
              </a:rPr>
              <a:t>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480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C6E"/>
                </a:solidFill>
                <a:latin typeface="Calibri"/>
              </a:rPr>
              <a:t>Openness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4805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Calibri"/>
              </a:rPr>
              <a:t>— Share ideas and be transparent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03520"/>
            <a:ext cx="10515600" cy="82296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3498DB"/>
                </a:solidFill>
                <a:latin typeface="Calibri"/>
              </a:rPr>
              <a:t>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394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C6E"/>
                </a:solidFill>
                <a:latin typeface="Calibri"/>
              </a:rPr>
              <a:t>Respect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3949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Calibri"/>
              </a:rPr>
              <a:t>— Value every team member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498DB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3200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2200">
                <a:solidFill>
                  <a:srgbClr val="3498DB"/>
                </a:solidFill>
              </a:rPr>
              <a:t>  ⭐  </a:t>
            </a:r>
            <a:r>
              <a:rPr sz="2000">
                <a:solidFill>
                  <a:srgbClr val="FFFFFF"/>
                </a:solidFill>
                <a:latin typeface="Calibri"/>
              </a:rPr>
              <a:t>Scrum helps teams work better and deliver faster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2200">
                <a:solidFill>
                  <a:srgbClr val="3498DB"/>
                </a:solidFill>
              </a:rPr>
              <a:t>  🧠  </a:t>
            </a:r>
            <a:r>
              <a:rPr sz="2000">
                <a:solidFill>
                  <a:srgbClr val="FFFFFF"/>
                </a:solidFill>
                <a:latin typeface="Calibri"/>
              </a:rPr>
              <a:t>Theory = How Scrum works (Empiricism &amp; Pillars)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2200">
                <a:solidFill>
                  <a:srgbClr val="3498DB"/>
                </a:solidFill>
              </a:rPr>
              <a:t>  💚  </a:t>
            </a:r>
            <a:r>
              <a:rPr sz="2000">
                <a:solidFill>
                  <a:srgbClr val="FFFFFF"/>
                </a:solidFill>
                <a:latin typeface="Calibri"/>
              </a:rPr>
              <a:t>Values = How the team behaves (5 Core Values)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30352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498DB"/>
                </a:solidFill>
                <a:latin typeface="Calibri"/>
              </a:rPr>
              <a:t>Thank You!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9436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8F7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